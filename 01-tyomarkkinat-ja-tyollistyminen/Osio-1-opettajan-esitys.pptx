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731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Osio 1: Työmarkkinat ja työllistyminen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Opettajan esitysmateriaali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8686800" cy="1645920"/>
          </a:xfrm>
          <a:prstGeom prst="rect">
            <a:avLst/>
          </a:prstGeom>
          <a:solidFill>
            <a:srgbClr val="1A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821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YTO3-TYTO-P Työelämässä toimiminen, 2 osp (YTTT26)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93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C0FF"/>
                </a:solidFill>
              </a:rPr>
              <a:t>Osio 1 / 3  |  Lähiopetus nuoret ~13 h  |  Aikuisten iltakurssi ~6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416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C0FF"/>
                </a:solidFill>
              </a:rPr>
              <a:t>Mercuria kauppaoppilaitos  |  YTTT26  |  OPH-7840-2025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C0FF"/>
                </a:solidFill>
              </a:rPr>
              <a:t>TM1 Työmarkkinat  •  TM2 Urapolut  •  TM3 Järjestöt &amp; TES  •  TM4 Työttömyysturva &amp; Eläke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📋  Osion 1 rakenne ja tavoitteet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4BA2"/>
                </a:solidFill>
              </a:rPr>
              <a:t>🎯 Osaamistavoitteet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5394960" cy="566928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764792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● TM1  Tuntee työmarkkinoiden nykytilaa ja kehityssuuntia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350008"/>
            <a:ext cx="5394960" cy="566928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4231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● TM2  Tuntee alan työllistymismahdollisuuksia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008376"/>
            <a:ext cx="5394960" cy="566928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30815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● TM3  Tuntee työmarkkinajärjestelmän toimintaa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66744"/>
            <a:ext cx="5394960" cy="566928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739896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● TM4  Tuntee työttömyysturvan ja eläkkeen kertymisen periaatteita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18872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4BA2"/>
                </a:solidFill>
              </a:rPr>
              <a:t>🗂️ Osion rakenne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91640"/>
            <a:ext cx="5852160" cy="65836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783080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1/4  TM1 — Suomen työmarkkinat nyt ja tulevaisuudessa  (~3 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441448"/>
            <a:ext cx="5852160" cy="658368"/>
          </a:xfrm>
          <a:prstGeom prst="rect">
            <a:avLst/>
          </a:prstGeom>
          <a:solidFill>
            <a:srgbClr val="F0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2532888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2/4  TM2 — Kaupan ala työnantajana — urapolut ja ammattinimikkeet  (~3 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191256"/>
            <a:ext cx="5852160" cy="65836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282696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3/4  TM3 — Suomen työmarkkinajärjestelmä  (~4 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941063"/>
            <a:ext cx="5852160" cy="658368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4032503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4/4  TM4 — Työttömyysturva ja eläkkeenkertyminen  (~3 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57800"/>
            <a:ext cx="11640312" cy="132588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309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📅 Lähiopetuksen eteneminen (5 oppituntia)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607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① 1. kerta (~3h):
Aloitus + TM1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7607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② 2. kerta (~3h):
TM2 + SCORM Harjoitus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7607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③ 3. kerta (~4h):
TM3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7607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④ 4. kerta (~3h):
TM4 + SCORM Harjoitus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57607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⑤ 5. kerta:
Päätös &amp; tehtävät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337AB7"/>
              </a:gs>
              <a:gs pos="100000">
                <a:srgbClr val="1A4A8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0" y="8229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CCFF"/>
                </a:solidFill>
              </a:rPr>
              <a:t>Aihekokonaisuus 1 / 4  (TM1)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Suomen työmarkkinat
nyt ja tulevaisuudessa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ACCFF"/>
                </a:solidFill>
              </a:rPr>
              <a:t>Opettajan johdantokeskustelu → lyhytesitys → pienryhmäanalyysi  |  ~3 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💬  TM1 — Avauskeskustelu (15–20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6858000" cy="530352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207008"/>
            <a:ext cx="6583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Tavoite:</a:t>
            </a:r>
          </a:p>
          <a:p>
            <a:pPr/>
            <a:r>
              <a:rPr sz="1100">
                <a:solidFill>
                  <a:srgbClr val="1A1A2E"/>
                </a:solidFill>
              </a:rPr>
              <a:t>Aktivoida opiskelijoiden omakohtainen pohdinta ennen uuden tiedon esittämistä.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Opettajan avauskysymys:</a:t>
            </a:r>
          </a:p>
          <a:p>
            <a:pPr/>
            <a:r>
              <a:rPr sz="1100">
                <a:solidFill>
                  <a:srgbClr val="1A1A2E"/>
                </a:solidFill>
              </a:rPr>
              <a:t>"Missä uskotte olevanne töissä 10 vuoden päästä?</a:t>
            </a:r>
          </a:p>
          <a:p>
            <a:pPr/>
            <a:r>
              <a:rPr sz="1100">
                <a:solidFill>
                  <a:srgbClr val="1A1A2E"/>
                </a:solidFill>
              </a:rPr>
              <a:t> Onko kaupan ala edelleen olemassa sellaisena kuin se nyt on?"</a:t>
            </a:r>
          </a:p>
          <a:p>
            <a:pPr/>
            <a:r>
              <a:rPr sz="1100">
                <a:solidFill>
                  <a:srgbClr val="1A1A2E"/>
                </a:solidFill>
              </a:rPr>
              <a:t>→ Kirjaa vastaukset taululle — palataan niihin esityksen jälkeen!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Jos keskustelu ei lähde käyntiin, kysy: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• Mitä teknologioita olette nähneet kaupoissa?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  (itsepalvelukassat, kassattomat kioskit, robottihyllyttäjät)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• Mitä töitä tekoäly voi mielestänne tehdä kaupan alalla?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  Mitä se ei pysty tekemään?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• Onko kaupan alan työ houkutteleva vaihtoehto? Miksi / miksi ei?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/>
            <a:r>
              <a:rPr sz="1100">
                <a:solidFill>
                  <a:srgbClr val="1A1A2E"/>
                </a:solidFill>
              </a:rPr>
              <a:t>Vinkki: Älä korjaa 'vääriä' vastauksia — anna ajatusten tulla.</a:t>
            </a:r>
          </a:p>
          <a:p>
            <a:pPr/>
            <a:r>
              <a:rPr sz="1100">
                <a:solidFill>
                  <a:srgbClr val="1A1A2E"/>
                </a:solidFill>
              </a:rPr>
              <a:t>Palaa kommentteihin esityksen jälkeen.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097280"/>
            <a:ext cx="448056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1887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🗣️  LUOKASSA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</a:rPr>
              <a:t>Avauskeskustelu koko luokalle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75688"/>
            <a:ext cx="4251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📌 Opettaja aloittaa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provosoivalla kysymyksellä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✏️ Opiskelijat vastaavat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ääneen tai lapulle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📋 Opettaja kirjaa taululle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🔄 Palataan vastauksiin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esityksen jälkeen!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⏱️  Kesto: 15–20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📊  TM1 — Kaupan ala Suomessa: numerot ja muutosvoimat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6858000" cy="530352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207008"/>
            <a:ext cx="6583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Kaupan ala Suomessa (2025):</a:t>
            </a:r>
          </a:p>
          <a:p>
            <a:pPr/>
            <a:r>
              <a:rPr sz="1100">
                <a:solidFill>
                  <a:srgbClr val="1A1A2E"/>
                </a:solidFill>
              </a:rPr>
              <a:t>• ~267 000 henkilöä työllistetty — Suomen suurin työllistäjä</a:t>
            </a:r>
          </a:p>
          <a:p>
            <a:pPr/>
            <a:r>
              <a:rPr sz="1100">
                <a:solidFill>
                  <a:srgbClr val="1A1A2E"/>
                </a:solidFill>
              </a:rPr>
              <a:t>• Alan myynti ~141 miljardia euroa/vuosi</a:t>
            </a:r>
          </a:p>
          <a:p>
            <a:pPr/>
            <a:r>
              <a:rPr sz="1100">
                <a:solidFill>
                  <a:srgbClr val="1A1A2E"/>
                </a:solidFill>
              </a:rPr>
              <a:t>• Jopa 8 000 työpaikkaa voi kadota 2024–2026 suorittavissa tehtävissä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  → Silti kauppa työllistää edelleen laajasti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Neljä suurta muutosvoimaa:</a:t>
            </a:r>
          </a:p>
          <a:p>
            <a:pPr/>
            <a:r>
              <a:rPr sz="1100">
                <a:solidFill>
                  <a:srgbClr val="1A1A2E"/>
                </a:solidFill>
              </a:rPr>
              <a:t>1️⃣  Digitalisaatio ja tekoäly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    → verkkokauppa kasvaa, kassatyö vähenee, data ohjaa ostoja</a:t>
            </a:r>
          </a:p>
          <a:p>
            <a:pPr/>
            <a:r>
              <a:rPr sz="1100">
                <a:solidFill>
                  <a:srgbClr val="1A1A2E"/>
                </a:solidFill>
              </a:rPr>
              <a:t>2️⃣  Automatisaatio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    → varastorobotit, itsepalvelukassat, AI-ostoehdotukset</a:t>
            </a:r>
          </a:p>
          <a:p>
            <a:pPr/>
            <a:r>
              <a:rPr sz="1100">
                <a:solidFill>
                  <a:srgbClr val="1A1A2E"/>
                </a:solidFill>
              </a:rPr>
              <a:t>3️⃣  Kestävä kehitys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    → kiertotalous, hävikin vähennys, vastuullinen hankinta</a:t>
            </a:r>
          </a:p>
          <a:p>
            <a:pPr/>
            <a:r>
              <a:rPr sz="1100">
                <a:solidFill>
                  <a:srgbClr val="1A1A2E"/>
                </a:solidFill>
              </a:rPr>
              <a:t>4️⃣  Väestörakenne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    → ikääntyvä Suomi + kasvava monikulttuurisuus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Uusi osaaminen kaupan alalla:</a:t>
            </a:r>
          </a:p>
          <a:p>
            <a:pPr/>
            <a:r>
              <a:rPr sz="1100">
                <a:solidFill>
                  <a:srgbClr val="1A1A2E"/>
                </a:solidFill>
              </a:rPr>
              <a:t>Digitaaliset taidot • Asiakaskokemuksen johtaminen •</a:t>
            </a:r>
          </a:p>
          <a:p>
            <a:pPr/>
            <a:r>
              <a:rPr sz="1100">
                <a:solidFill>
                  <a:srgbClr val="1A1A2E"/>
                </a:solidFill>
              </a:rPr>
              <a:t>Kestävä liiketoiminta • Vuorovaikutus- ja tiimityötaidot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097280"/>
            <a:ext cx="448056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1887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🗣️  LUOKASSA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</a:rPr>
              <a:t>Reaktio lukuihin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75688"/>
            <a:ext cx="4251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📌 Kysy luokalta: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"267 000 — onko se paljon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vai vähän?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Mikä luku yllättää?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💬 Mitkä muutosvoimista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näette omassa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arjessanne jo nyt?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✍️ Kirjoita 1 konkreettinen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esimerkki kustakin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muutosvoimasta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⏱️  Kesto: 5–8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2636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7EEA"/>
                </a:solidFill>
              </a:rPr>
              <a:t>🔗 Lähde: https://kauppa.fi/palvelut-ja-tietopankki/kaupan-alan-tilastoja/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👥  TM1 — Pienryhmäanalyysi: "Uhka vai mahdollisuus?" (30–40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40312" cy="5943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</a:rPr>
              <a:t>Jokainen ryhmä (3–4 hlö) analysoi yhden muutosvoiman kaupan alan kannalta.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00" cy="16002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901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64BA2"/>
                </a:solidFill>
              </a:rPr>
              <a:t>🔵 Ryhmä A — Tekoäly &amp; automaatio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860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Kaupan ketjut investoivat robottivarastoihin ja
automaattisiin kassoihin. Mitä töitä häviää?
Mitä uusia töitä syntyy?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828800"/>
            <a:ext cx="5486400" cy="16002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901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64BA2"/>
                </a:solidFill>
              </a:rPr>
              <a:t>🟢 Ryhmä B — Verkkokaupan kasvu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860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Mitä tapahtuu kivijalkamyymälöille?
Mitä osaamista verkkokaupan kasvu luo?
Miten kauppa muuttuu?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5486400" cy="16002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730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64BA2"/>
                </a:solidFill>
              </a:rPr>
              <a:t>🟡 Ryhmä C — Kestävä kehitys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1148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Hävikki, kierrätys, vastuullisuusviestintä —
miten nämä muuttavat kaupan töitä?
Mitä osaamista tarvitaan?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657600"/>
            <a:ext cx="5486400" cy="16002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730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64BA2"/>
                </a:solidFill>
              </a:rPr>
              <a:t>🔴 Ryhmä D — Väestörakenne &amp; monimuotoisuus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1148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Suomi ikääntyy ja monikulttuuristuu —
mitkä ovat haasteet ja mahdollisuudet
kaupan alalle?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49240"/>
            <a:ext cx="7772400" cy="12801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D6A4F"/>
                </a:solidFill>
              </a:rPr>
              <a:t>📝 Tehtävät jokaiselle ryhmälle: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7900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1. Mitä muutosvoima tarkoittaa kaupan arjessa?  2. Mitä töitä häviää / syntyy?  3. Miten valmistautua?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5349240"/>
            <a:ext cx="3749039" cy="12801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5394960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💡 Vinkki: Kirjaa tulokset taululle
→ Palaa avauskeskustelun vastauksiin:
  'Oliko ennustuksenne oikeassa?'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2D8A4F"/>
              </a:gs>
              <a:gs pos="100000">
                <a:srgbClr val="1A4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0" y="8229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FFCC"/>
                </a:solidFill>
              </a:rPr>
              <a:t>Aihekokonaisuus 2 / 4  (TM2)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Kaupan ala työnantajana
Ammattinimikkeet ja urapolut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AFFCC"/>
                </a:solidFill>
              </a:rPr>
              <a:t>Opettajan esitys → ohjattu tutkimustehtävä → yhteinen purku  |  ~3 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🗺️  TM2 — Urapolku kaupan alalla ja toimialat (20–30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6858000" cy="530352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207008"/>
            <a:ext cx="6583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Urapolun tasot kaupan alalla:</a:t>
            </a:r>
          </a:p>
          <a:p>
            <a:pPr/>
            <a:r>
              <a:rPr sz="1100">
                <a:solidFill>
                  <a:srgbClr val="1A1A2E"/>
                </a:solidFill>
              </a:rPr>
              <a:t>Aloitustaso:  Myyjä, Asiakaspalvelija, Kassatyöntekijä, Hyllyttäjä</a:t>
            </a:r>
          </a:p>
          <a:p>
            <a:pPr/>
            <a:r>
              <a:rPr sz="1100">
                <a:solidFill>
                  <a:srgbClr val="1A1A2E"/>
                </a:solidFill>
              </a:rPr>
              <a:t>Vastuulliset: Osastovastaava, Vuorovastaava, Vastuullinen myyjä</a:t>
            </a:r>
          </a:p>
          <a:p>
            <a:pPr/>
            <a:r>
              <a:rPr sz="1100">
                <a:solidFill>
                  <a:srgbClr val="1A1A2E"/>
                </a:solidFill>
              </a:rPr>
              <a:t>Esimiestehtävät: Tiiminvetäjä, Apulaismyymäläpäällikkö</a:t>
            </a:r>
          </a:p>
          <a:p>
            <a:pPr/>
            <a:r>
              <a:rPr sz="1100">
                <a:solidFill>
                  <a:srgbClr val="1A1A2E"/>
                </a:solidFill>
              </a:rPr>
              <a:t>Myymäläjohto: Myymäläpäällikkö, Kauppias</a:t>
            </a:r>
          </a:p>
          <a:p>
            <a:pPr/>
            <a:r>
              <a:rPr sz="1100">
                <a:solidFill>
                  <a:srgbClr val="1A1A2E"/>
                </a:solidFill>
              </a:rPr>
              <a:t>Alue/ketju:  Aluepäällikkö, Kehityspäällikkö</a:t>
            </a:r>
          </a:p>
          <a:p>
            <a:pPr/>
            <a:r>
              <a:rPr sz="1100">
                <a:solidFill>
                  <a:srgbClr val="1A1A2E"/>
                </a:solidFill>
              </a:rPr>
              <a:t>Erikoistuminen: HR, Verkkokauppa, Osto/logistiikka, Kirjanpito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Toimialat — eri liiketoimintaympäristöt:</a:t>
            </a:r>
          </a:p>
          <a:p>
            <a:pPr/>
            <a:r>
              <a:rPr sz="1100">
                <a:solidFill>
                  <a:srgbClr val="1A1A2E"/>
                </a:solidFill>
              </a:rPr>
              <a:t>Päivittäistavarakauppa: S-ryhmä (Prisma, S-market), K-ryhmä, Lidl</a:t>
            </a:r>
          </a:p>
          <a:p>
            <a:pPr/>
            <a:r>
              <a:rPr sz="1100">
                <a:solidFill>
                  <a:srgbClr val="1A1A2E"/>
                </a:solidFill>
              </a:rPr>
              <a:t>Erikoiskauppa: Gigantti, Sportia, H&amp;M, Bauhaus, Motonet</a:t>
            </a:r>
          </a:p>
          <a:p>
            <a:pPr/>
            <a:r>
              <a:rPr sz="1100">
                <a:solidFill>
                  <a:srgbClr val="1A1A2E"/>
                </a:solidFill>
              </a:rPr>
              <a:t>Tukkukauppa: Kesko, SOK, Inex Partners</a:t>
            </a:r>
          </a:p>
          <a:p>
            <a:pPr/>
            <a:r>
              <a:rPr sz="1100">
                <a:solidFill>
                  <a:srgbClr val="1A1A2E"/>
                </a:solidFill>
              </a:rPr>
              <a:t>Verkkokauppa: Verkkokauppa.com, Zalando, yritysten omat verkkokaupat</a:t>
            </a:r>
          </a:p>
          <a:p>
            <a:pPr/>
            <a:r>
              <a:rPr sz="1100">
                <a:solidFill>
                  <a:srgbClr val="1A1A2E"/>
                </a:solidFill>
              </a:rPr>
              <a:t>Toimisto/talous: kirjanpitäjät, HR-ammattilaiset, IT-osaajat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097280"/>
            <a:ext cx="448056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1887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🗣️  LUOKASSA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</a:rPr>
              <a:t>Mieleenpainuva aloitus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75688"/>
            <a:ext cx="4251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📌 Pyydä luokkaa: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"Keksitäänkö yhdessä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10 kaupan alan yritystä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lähialueeltanne?"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📋 Kirjaa taululle —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osoittaa alan laajuuden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konkreettisesti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💬 Kysy lisää: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"Missä haluaisit itse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tyoskennellä? Miksi?"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⏱️  Kesto: 5–10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🔍  TM2 — Tutkimustehtävä: "Löydä oma paikkasi kaupan alalta" (40–50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40312" cy="6217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Valitse yksi ammattinimike tai tehtäväalue, joka kiinnostaa sinua — myös taloushallinto tai muu toimistotyö kaupan yrityksessä sopii.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6858000" cy="32004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📝 Selvitä verkosta: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64922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1️⃣  Mitä kyseiseen tehtävään käytännössä kuuluu? (Työnkuva)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2️⃣  Millainen koulutus tai kokemus vaaditaan?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3️⃣  Kuinka paljon maksetaan? (TES tai avoimet ilmoitukset)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4️⃣  Missä kaupan alan yrityksissä tätä työtä voi tehdä?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5️⃣  Löydä yksi avoin työpaikka tai harjoittelupaikka: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    Missä se on ja mitä hakijalta vaaditaan?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12080"/>
            <a:ext cx="6858000" cy="13716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7608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</a:rPr>
              <a:t>🔗 Hyödyllisiä lähteitä: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mol.fi   •   duunitori.fi   •   kauppa.fi   •   Yritysten omat sivut → 'Töihin meille'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874519"/>
            <a:ext cx="4572000" cy="32004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3852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💡 Opettajan vinkki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377440"/>
            <a:ext cx="4343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Tämä tehtävä toimii motivoijana — kun opiskelija löytää konkreettisen kiinnostavan työn, osio 1:n asiat saavat henkilökohtaisen merkityksen.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5212080"/>
            <a:ext cx="4572000" cy="13716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527608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</a:rPr>
              <a:t>🗣️  Yksilö- tai paritehtävä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566928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Jokainen esittelee löydöksensä 2–3 min.
Muistutus: SCORM Harjoitus 1 heti tämän jälkeen!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🎤  TM2 — Yhteinen purkukeskustelu (20–30 min) → SCORM Harjoitus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6858000" cy="530352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207008"/>
            <a:ext cx="6583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Purku — jokainen esittelee 2–3 min:</a:t>
            </a:r>
          </a:p>
          <a:p>
            <a:pPr/>
            <a:r>
              <a:rPr sz="1100">
                <a:solidFill>
                  <a:srgbClr val="1A1A2E"/>
                </a:solidFill>
              </a:rPr>
              <a:t>Mitä yllätyksiä löytyi? (palkka, vaatimukset, työnkuva)</a:t>
            </a:r>
          </a:p>
          <a:p>
            <a:pPr/>
            <a:r>
              <a:rPr sz="1100">
                <a:solidFill>
                  <a:srgbClr val="1A1A2E"/>
                </a:solidFill>
              </a:rPr>
              <a:t>Mitkä nimikkeet kuulostavat houkuttelevilta ja miksi?</a:t>
            </a:r>
          </a:p>
          <a:p>
            <a:pPr/>
            <a:r>
              <a:rPr sz="1100">
                <a:solidFill>
                  <a:srgbClr val="1A1A2E"/>
                </a:solidFill>
              </a:rPr>
              <a:t>Mitä pitäisi opiskella tai harjoitella?</a:t>
            </a:r>
          </a:p>
          <a:p>
            <a:pPr/>
            <a:r>
              <a:rPr sz="1100">
                <a:solidFill>
                  <a:srgbClr val="1A1A2E"/>
                </a:solidFill>
              </a:rPr>
              <a:t>Oliko toimistotyötä hakenneilla erilaisia löydöksiä?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SCORM — Harjoitus 1 heti purun jälkeen:</a:t>
            </a:r>
          </a:p>
          <a:p>
            <a:pPr/>
            <a:r>
              <a:rPr sz="1100">
                <a:solidFill>
                  <a:srgbClr val="1A1A2E"/>
                </a:solidFill>
              </a:rPr>
              <a:t>Kaupan alan urapolku -simulaattori</a:t>
            </a:r>
          </a:p>
          <a:p>
            <a:pPr/>
            <a:r>
              <a:rPr sz="1100">
                <a:solidFill>
                  <a:srgbClr val="1A1A2E"/>
                </a:solidFill>
              </a:rPr>
              <a:t>→ Opiskelija tekee valintoja (toimiala, tehtävä, urapolku)</a:t>
            </a:r>
          </a:p>
          <a:p>
            <a:pPr/>
            <a:r>
              <a:rPr sz="1100">
                <a:solidFill>
                  <a:srgbClr val="1A1A2E"/>
                </a:solidFill>
              </a:rPr>
              <a:t>→ Urapolku etenee valintojen mukaan</a:t>
            </a:r>
          </a:p>
          <a:p>
            <a:pPr/>
            <a:r>
              <a:rPr sz="1100">
                <a:solidFill>
                  <a:srgbClr val="1A1A2E"/>
                </a:solidFill>
              </a:rPr>
              <a:t>→ Palkkatasot perustuvat kaupan alan TES-tietoihin</a:t>
            </a:r>
          </a:p>
          <a:p>
            <a:pPr/>
            <a:r>
              <a:rPr sz="1100">
                <a:solidFill>
                  <a:srgbClr val="1A1A2E"/>
                </a:solidFill>
              </a:rPr>
              <a:t>→ SCORM tallentaa suorituksen Moodleen automaattisesti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/>
            <a:r>
              <a:rPr sz="1100">
                <a:solidFill>
                  <a:srgbClr val="1A1A2E"/>
                </a:solidFill>
              </a:rPr>
              <a:t>Käynnistä harjoite koko luokalle samanaikaisesti.</a:t>
            </a:r>
          </a:p>
          <a:p>
            <a:pPr/>
            <a:r>
              <a:rPr sz="1100">
                <a:solidFill>
                  <a:srgbClr val="1A1A2E"/>
                </a:solidFill>
              </a:rPr>
              <a:t>Kierrä luokassa ja vastaa kysymyksiin yksilöllisesti.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097280"/>
            <a:ext cx="448056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1887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🗣️  LUOKASSA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</a:rPr>
              <a:t>SCORM-siirtymä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75688"/>
            <a:ext cx="4251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🎤 Purkuvaihe: jokainen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esittelee 2–3 min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🖥️ SCORM-SIIRTYMÄ: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"Nyt siirrytään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tietokoneelle — avaa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Harjoitus 1: Kaupan alan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urapolku -simulaattori"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Opettaja kiertää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luokassa ja tukee.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⏱️  SCORM ~25–30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C05A00"/>
              </a:gs>
              <a:gs pos="100000">
                <a:srgbClr val="7A300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0" y="8229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DAA"/>
                </a:solidFill>
              </a:rPr>
              <a:t>Aihekokonaisuus 3 / 4  (TM3)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Suomen
työmarkkinajärjestelmä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DAA"/>
                </a:solidFill>
              </a:rPr>
              <a:t>Opettajan esitys → tunnistusharjoitus → TES-tutustuminen  |  ~4 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⚖️  TM3 — Ammattiliitot, työnantajajärjestöt ja neuvottelujärjestelmä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64BA2"/>
                </a:solidFill>
              </a:rPr>
              <a:t>👷 Ammattiliitot (työntekijät)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5166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🔵  PAM (Palvelualojen ammattiliitto)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 ~200 000 kaupan ja palvelualan jäsentä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 Edut: TES-suoja, lakipalvelut,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 ansiosidonnainen (JATTK-kassan kautta)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 Kustannus: ~1–1,5 % bruttopalkasta/kk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⬛  SAK — PAMin kattojärjestö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🟡  STTK — toimihenkilöt ja asiantuntijat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🟠  AKAVA — korkeasti koulutetut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📌 Oikea liitto = oikea TES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 = oikea ansiosidonnainen!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097280"/>
            <a:ext cx="3566160" cy="53035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188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04000"/>
                </a:solidFill>
              </a:rPr>
              <a:t>🏢 Työnantajajärjestöt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664208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🔴  Kaupan liitto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kaupan alan työnantajajärjestö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⬛  EK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Elinkeinoelämän Keskusliitto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(kattojärjestö)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─────────────────────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🤝 TES syntyy: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PAM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 +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Kaupan liitto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    ↓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NEUVOTTELUT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    ↓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Kaupan alan TES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   2025–2028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097280"/>
            <a:ext cx="233172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D6A4F"/>
                </a:solidFill>
              </a:rPr>
              <a:t>🗣️ LUOKASSA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64592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A1A2E"/>
                </a:solidFill>
              </a:rPr>
              <a:t>Tunnistus-
harjoitus: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157984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Minna, kassatyöntekijä
Prismassa → PAM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Myymäläpäällikkö
K-Citymarketissa
→ PAM / YTN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HR-johtaja kaupan
ketjussa → AKAVA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Kesko-konsernin TJ
→ Työnantajapuoli!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Lähihoitaja
→ Tehy (ei PAM!)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Opettaja
→ OAJ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📄  TM3 — TES:n yleissitovuus ja paikallinen sopiminen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6858000" cy="530352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207008"/>
            <a:ext cx="6583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Keskeiset käsitteet: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/>
            <a:r>
              <a:rPr sz="1100">
                <a:solidFill>
                  <a:srgbClr val="1A1A2E"/>
                </a:solidFill>
              </a:rPr>
              <a:t>Yleissitovuus:</a:t>
            </a:r>
          </a:p>
          <a:p>
            <a:pPr/>
            <a:r>
              <a:rPr sz="1100">
                <a:solidFill>
                  <a:srgbClr val="1A1A2E"/>
                </a:solidFill>
              </a:rPr>
              <a:t>Kaupan alan TES sitoo KAIKKIA kaupan alan työnantajia —</a:t>
            </a:r>
          </a:p>
          <a:p>
            <a:pPr/>
            <a:r>
              <a:rPr sz="1100">
                <a:solidFill>
                  <a:srgbClr val="1A1A2E"/>
                </a:solidFill>
              </a:rPr>
              <a:t>myös niitä, jotka eivät kuulu Kaupan liittoon.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→ Et voi jäädä TES:n ulkopuolelle olemalla liittymättä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/>
            <a:r>
              <a:rPr sz="1100">
                <a:solidFill>
                  <a:srgbClr val="1A1A2E"/>
                </a:solidFill>
              </a:rPr>
              <a:t>Paikallinen sopiminen:</a:t>
            </a:r>
          </a:p>
          <a:p>
            <a:pPr/>
            <a:r>
              <a:rPr sz="1100">
                <a:solidFill>
                  <a:srgbClr val="1A1A2E"/>
                </a:solidFill>
              </a:rPr>
              <a:t>TES:n puitteissa voidaan yrityksessä sopia joistakin asioista</a:t>
            </a:r>
          </a:p>
          <a:p>
            <a:pPr/>
            <a:r>
              <a:rPr sz="1100">
                <a:solidFill>
                  <a:srgbClr val="1A1A2E"/>
                </a:solidFill>
              </a:rPr>
              <a:t>esimerkiksi: liukumat, ruokataukojen pituus, lisätyön tarjoamisjärjestys.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/>
            <a:r>
              <a:rPr sz="1100">
                <a:solidFill>
                  <a:srgbClr val="1A1A2E"/>
                </a:solidFill>
              </a:rPr>
              <a:t>Työtaistelu — jos neuvottelut epäonnistuvat:</a:t>
            </a:r>
          </a:p>
          <a:p>
            <a:pPr/>
            <a:r>
              <a:rPr sz="1100">
                <a:solidFill>
                  <a:srgbClr val="1A1A2E"/>
                </a:solidFill>
              </a:rPr>
              <a:t>Lakko (työntekijät kieltäytyvät töistä)</a:t>
            </a:r>
          </a:p>
          <a:p>
            <a:pPr/>
            <a:r>
              <a:rPr sz="1100">
                <a:solidFill>
                  <a:srgbClr val="1A1A2E"/>
                </a:solidFill>
              </a:rPr>
              <a:t>Työsulku (työnantaja sulkee yrityksen)</a:t>
            </a:r>
          </a:p>
          <a:p>
            <a:pPr/>
            <a:r>
              <a:rPr sz="1100">
                <a:solidFill>
                  <a:srgbClr val="1A1A2E"/>
                </a:solidFill>
              </a:rPr>
              <a:t>Ylityökielto, boikotti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/>
            <a:r>
              <a:rPr sz="1100">
                <a:solidFill>
                  <a:srgbClr val="1A1A2E"/>
                </a:solidFill>
              </a:rPr>
              <a:t>Lähde: PAM — pam.fi/tyoehtosopimukset/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097280"/>
            <a:ext cx="448056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1887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🗣️  LUOKASSA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</a:rPr>
              <a:t>Pohdinta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75688"/>
            <a:ext cx="4251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💬 Kysy luokalta: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"Miksi yleissitovuus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on tärkeä työn-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tekijöille?"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"Mitä tapahtuisi,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jos TES ei sitoisi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kaikkia?"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💡 Muistuta: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Jäsenyys = oikeus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ansiosidonnaiseen!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⏱️  Kesto: 10 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📄  TM3 — TES-tutustuminen pareittain (40–50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40312" cy="65836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</a:rPr>
              <a:t>"Tämä on se sopimus, joka oikeasti määrittää palkkaasi kaupan alalla. Opitaan lukemaan sitä — se on käytännön taito!"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6858000" cy="329184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📝 Etsikää pareittain TES:stä: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6492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1️⃣  Mikä on perustuntipalkka palkkaluokassa 1 (alle 1 v kokemus)?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2️⃣  Koska alkaa iltalisä ja kuinka paljon se on euroina?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3️⃣  Kuinka pitkä koeaika työsopimuksessa voi enintään olla?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4️⃣  Montako viikkoa vuosilomaa kertyy ensimmäisen täyden vuoden jälkeen?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5️⃣  Mitä tarkoittaa 'säännöllinen työaika' TES:n mukaan?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85232"/>
            <a:ext cx="6858000" cy="12984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7667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</a:rPr>
              <a:t>🔗 TES löytyy: https://www.pam.fi/tyoehtosopimukset/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1A2E"/>
                </a:solidFill>
              </a:rPr>
              <a:t>💡 Jos opiskelijoilla on jo työsuhde — kannusta tarkistamaan oma palkka TES:stä tunnin jälkeen!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874519"/>
            <a:ext cx="4572000" cy="47091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4767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04000"/>
                </a:solidFill>
              </a:rPr>
              <a:t>💡 Opettajan vinkki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377440"/>
            <a:ext cx="4343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Lähiopetuksessa voit: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Jakaa TES:n paperiversiona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Ohjata kaikki pam.fi:hin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Puretaan yhdessä: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"Tätä tietoa tarvitset,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kun tarkistat, onko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palkkalaskelmasi oikein!"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Korostus purussa: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Iltalisä — moni ei tiedä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Koeaika — enintään 6 kk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Vuosilomakertymä 2,5 pv/kk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⏱️  Kesto: 40–50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8E246A"/>
              </a:gs>
              <a:gs pos="100000">
                <a:srgbClr val="4A0A3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0" y="8229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AADD"/>
                </a:solidFill>
              </a:rPr>
              <a:t>Aihekokonaisuus 4 / 4  (TM4)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Työttömyysturva ja
eläkkeenkertyminen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AADD"/>
                </a:solidFill>
              </a:rPr>
              <a:t>Johdantokeskustelu → esitys → case-harjoitus → loppukeskustelu  |  ~3 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E2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🛡️  TM4 — Johdanto ja työttömyysturvajärjestelmä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6858000" cy="530352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207008"/>
            <a:ext cx="6583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Johdantokysymys (10–15 min):</a:t>
            </a:r>
          </a:p>
          <a:p>
            <a:pPr/>
            <a:r>
              <a:rPr sz="1100">
                <a:solidFill>
                  <a:srgbClr val="1A1A2E"/>
                </a:solidFill>
              </a:rPr>
              <a:t>"Mitä tapahtuu, jos jäät huomenna työttömäksi?</a:t>
            </a:r>
          </a:p>
          <a:p>
            <a:pPr/>
            <a:r>
              <a:rPr sz="1100">
                <a:solidFill>
                  <a:srgbClr val="1A1A2E"/>
                </a:solidFill>
              </a:rPr>
              <a:t> Mistä saat rahaa ensi kuussa?"</a:t>
            </a:r>
          </a:p>
          <a:p>
            <a:pPr/>
            <a:r>
              <a:rPr sz="1100">
                <a:solidFill>
                  <a:srgbClr val="1A1A2E"/>
                </a:solidFill>
              </a:rPr>
              <a:t>→ Kirjaa vastaukset taululle. Palataan näihin esityksen jälkeen.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Kolme etuutta (30–40 min):</a:t>
            </a:r>
          </a:p>
          <a:p>
            <a:pPr/>
            <a:r>
              <a:rPr sz="1100">
                <a:solidFill>
                  <a:srgbClr val="1A1A2E"/>
                </a:solidFill>
              </a:rPr>
              <a:t>1. ANSIOSIDONNAINEN PÄIVÄRAHA</a:t>
            </a:r>
          </a:p>
          <a:p>
            <a:pPr/>
            <a:r>
              <a:rPr sz="1100">
                <a:solidFill>
                  <a:srgbClr val="1A1A2E"/>
                </a:solidFill>
              </a:rPr>
              <a:t>   Maksaja: Työttömyyskassa (JATTK)</a:t>
            </a:r>
          </a:p>
          <a:p>
            <a:pPr/>
            <a:r>
              <a:rPr sz="1100">
                <a:solidFill>
                  <a:srgbClr val="1A1A2E"/>
                </a:solidFill>
              </a:rPr>
              <a:t>   Vaatimus: 12 kk työssäoloehto + kassan jäsenyys</a:t>
            </a:r>
          </a:p>
          <a:p>
            <a:pPr/>
            <a:r>
              <a:rPr sz="1100">
                <a:solidFill>
                  <a:srgbClr val="1A1A2E"/>
                </a:solidFill>
              </a:rPr>
              <a:t>   Suuruus: ~56 % palkasta</a:t>
            </a:r>
          </a:p>
          <a:p>
            <a:pPr/>
            <a:r>
              <a:rPr sz="1100">
                <a:solidFill>
                  <a:srgbClr val="1A1A2E"/>
                </a:solidFill>
              </a:rPr>
              <a:t>2. PERUSPÄIVÄRAHA</a:t>
            </a:r>
          </a:p>
          <a:p>
            <a:pPr/>
            <a:r>
              <a:rPr sz="1100">
                <a:solidFill>
                  <a:srgbClr val="1A1A2E"/>
                </a:solidFill>
              </a:rPr>
              <a:t>   Maksaja: Kela | Vaatimus: 12 kk työssäoloehto, ei kassan jäsenyyttä</a:t>
            </a:r>
          </a:p>
          <a:p>
            <a:pPr/>
            <a:r>
              <a:rPr sz="1100">
                <a:solidFill>
                  <a:srgbClr val="1A1A2E"/>
                </a:solidFill>
              </a:rPr>
              <a:t>   Suuruus: ~37 €/päivä</a:t>
            </a:r>
          </a:p>
          <a:p>
            <a:pPr/>
            <a:r>
              <a:rPr sz="1100">
                <a:solidFill>
                  <a:srgbClr val="1A1A2E"/>
                </a:solidFill>
              </a:rPr>
              <a:t>3. TYÖMARKKINATUKI</a:t>
            </a:r>
          </a:p>
          <a:p>
            <a:pPr/>
            <a:r>
              <a:rPr sz="1100">
                <a:solidFill>
                  <a:srgbClr val="1A1A2E"/>
                </a:solidFill>
              </a:rPr>
              <a:t>   Maksaja: Kela | Ei työssäoloehtoa (ensikertaa, pitkäaikaistyötön)</a:t>
            </a:r>
          </a:p>
          <a:p>
            <a:pPr/>
            <a:r>
              <a:rPr sz="1100">
                <a:solidFill>
                  <a:srgbClr val="1A1A2E"/>
                </a:solidFill>
              </a:rPr>
              <a:t>   Suuruus: ~37 €/päivä, useita rajoituksia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/>
            <a:r>
              <a:rPr sz="1100">
                <a:solidFill>
                  <a:srgbClr val="1A1A2E"/>
                </a:solidFill>
              </a:rPr>
              <a:t>TÄRKEÄÄ: Työssäoloehto 2025 = 12 kk / 28 kk aikana</a:t>
            </a:r>
          </a:p>
          <a:p>
            <a:pPr/>
            <a:r>
              <a:rPr sz="1100">
                <a:solidFill>
                  <a:srgbClr val="1A1A2E"/>
                </a:solidFill>
              </a:rPr>
              <a:t>Omavastuuaika 5 pv | Nuoret alle 25 v: koulutusvelvollisuus!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097280"/>
            <a:ext cx="448056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1887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🗣️  LUOKASSA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</a:rPr>
              <a:t>Väärinkäsitysten käsittely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75688"/>
            <a:ext cx="4251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📌 Tyypilliset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väärinkäsitykset: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"Saan heti rahaa"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→ Omavastuuaika 5 pv!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"Kela maksaa auto-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maattisesti"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→ Täytyy hakea itse!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(TE-toimistoon!)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"Saan täyden palkan"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→ ~56 % palkasta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💬 Palauta vastaukset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taululta: 'Olitko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oikeassa?'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⏱️  Johdanto: 10–15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2636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7EEA"/>
                </a:solidFill>
              </a:rPr>
              <a:t>🔗 Kela: https://www.kela.fi/tyottomyys  |  JATTK: https://www.jattk.fi/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E2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👴  TM4 — Eläkkeenkertyminen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6858000" cy="530352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207008"/>
            <a:ext cx="6583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Työeläke kertyy:</a:t>
            </a:r>
          </a:p>
          <a:p>
            <a:pPr/>
            <a:r>
              <a:rPr sz="1100">
                <a:solidFill>
                  <a:srgbClr val="1A1A2E"/>
                </a:solidFill>
              </a:rPr>
              <a:t>• Alkaa kertyä jo 17-vuotiaasta alkaen</a:t>
            </a:r>
          </a:p>
          <a:p>
            <a:pPr/>
            <a:r>
              <a:rPr sz="1100">
                <a:solidFill>
                  <a:srgbClr val="1A1A2E"/>
                </a:solidFill>
              </a:rPr>
              <a:t>• Jokaisesta työsuhteesta — myös kesätöistä!</a:t>
            </a:r>
          </a:p>
          <a:p>
            <a:pPr/>
            <a:r>
              <a:rPr sz="1100">
                <a:solidFill>
                  <a:srgbClr val="1A1A2E"/>
                </a:solidFill>
              </a:rPr>
              <a:t>• Kertymisprosentti: 1,5 % vuodessa (17–52-vuotiaana)</a:t>
            </a:r>
          </a:p>
          <a:p>
            <a:pPr lvl="1"/>
            <a:r>
              <a:rPr sz="1100">
                <a:solidFill>
                  <a:srgbClr val="1A1A2E"/>
                </a:solidFill>
              </a:rPr>
              <a:t>  → Kasvaa iän myötä (52+: 1,9 %, 63+: 4,5 %)</a:t>
            </a:r>
          </a:p>
          <a:p>
            <a:pPr/>
            <a:r>
              <a:rPr sz="1100">
                <a:solidFill>
                  <a:srgbClr val="1A1A2E"/>
                </a:solidFill>
              </a:rPr>
              <a:t>• Eläkeikäraja: yleensä 65–68 v (riippuu syntymävuodesta)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Konkreettinen esimerkki:</a:t>
            </a:r>
          </a:p>
          <a:p>
            <a:pPr/>
            <a:r>
              <a:rPr sz="1100">
                <a:solidFill>
                  <a:srgbClr val="1A1A2E"/>
                </a:solidFill>
              </a:rPr>
              <a:t>Nelli, 19 v, tekee kesätöitä 3 kuukautta,</a:t>
            </a:r>
          </a:p>
          <a:p>
            <a:pPr/>
            <a:r>
              <a:rPr sz="1100">
                <a:solidFill>
                  <a:srgbClr val="1A1A2E"/>
                </a:solidFill>
              </a:rPr>
              <a:t>palkka 2 000 €/kk = 6 000 € kesän ansiot.</a:t>
            </a:r>
          </a:p>
          <a:p>
            <a:pPr/>
            <a:r>
              <a:rPr sz="1100">
                <a:solidFill>
                  <a:srgbClr val="1A1A2E"/>
                </a:solidFill>
              </a:rPr>
              <a:t/>
            </a:r>
          </a:p>
          <a:p>
            <a:pPr/>
            <a:r>
              <a:rPr sz="1100">
                <a:solidFill>
                  <a:srgbClr val="1A1A2E"/>
                </a:solidFill>
              </a:rPr>
              <a:t>Eläkettä kertyy:</a:t>
            </a:r>
          </a:p>
          <a:p>
            <a:pPr/>
            <a:r>
              <a:rPr sz="1100">
                <a:solidFill>
                  <a:srgbClr val="1A1A2E"/>
                </a:solidFill>
              </a:rPr>
              <a:t>6 000 € × 1,5 % = 90 € eläkettä tältä kesältä!</a:t>
            </a:r>
          </a:p>
          <a:p>
            <a:pPr/>
            <a:r>
              <a:rPr sz="1100">
                <a:solidFill>
                  <a:srgbClr val="1A1A2E"/>
                </a:solidFill>
              </a:rPr>
              <a:t/>
            </a:r>
          </a:p>
          <a:p>
            <a:pPr/>
            <a:r>
              <a:rPr sz="1100">
                <a:solidFill>
                  <a:srgbClr val="1A1A2E"/>
                </a:solidFill>
              </a:rPr>
              <a:t>Pieneltä tuntuu nyt, mutta kertyy koko uran ajan.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Mitä pitää tehdä heti työsuhteen alkaessa:</a:t>
            </a:r>
          </a:p>
          <a:p>
            <a:pPr/>
            <a:r>
              <a:rPr sz="1100">
                <a:solidFill>
                  <a:srgbClr val="1A1A2E"/>
                </a:solidFill>
              </a:rPr>
              <a:t>Ei mitään erityistä — eläke kertyy automaattisesti.</a:t>
            </a:r>
          </a:p>
          <a:p>
            <a:pPr/>
            <a:r>
              <a:rPr sz="1100">
                <a:solidFill>
                  <a:srgbClr val="1A1A2E"/>
                </a:solidFill>
              </a:rPr>
              <a:t>Tarkista oma kertymäsi: https://www.tyoelake.fi/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097280"/>
            <a:ext cx="448056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1887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🗣️  LUOKASSA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</a:rPr>
              <a:t>Eläkepohdinta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75688"/>
            <a:ext cx="4251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💬 Kysy luokalta: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"Kuinka moni teistä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on miettinyt omaa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eläkettä ennen tätä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oppituntia?"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📱 Näytä tyoelake.fi: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jokainen voi katsoa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oman kertymänsä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💡 Muistuta: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Kesätyökin kerryttää!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Jokainen tunti lasketaan.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⏱️  Kesto: 15–20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2636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7EEA"/>
                </a:solidFill>
              </a:rPr>
              <a:t>🔗 Oma eläkekertymä: https://www.tyoelake.fi/  |  ETK: https://www.etk.fi/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E2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📋  TM4 — Case-harjoitus: "Tiina jää lomautetuksi" (30–40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40312" cy="9144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</a:rPr>
              <a:t>Tiina, 24 v, on työskennellyt kaupan kassalla 14 kuukautta kokoaikaisesti. Palkka 1 900 €/kk brutto. Tiina on PAMin jäsen ja kuuluu sitä kautta kaupan alan työttömyyskassaan (JATTK). Nyt ketju ilmoittaa lomautuksista — Tiina lomautetaan 3 kuukaudeksi.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21408"/>
            <a:ext cx="6858000" cy="347472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📝 Tehtävät pienryhmissä (3–4 hlö):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4328"/>
            <a:ext cx="6492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A1A2E"/>
                </a:solidFill>
              </a:rPr>
              <a:t>1️⃣  Mihin etuuteen Tiina on oikeutettu —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2E"/>
                </a:solidFill>
              </a:rPr>
              <a:t>    ansiosidonnaiseen vai peruspäivärahaan? Miksi?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2E"/>
                </a:solidFill>
              </a:rPr>
              <a:t>2️⃣  Paljonko rahaa Tiina suurin piirtein saa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2E"/>
                </a:solidFill>
              </a:rPr>
              <a:t>    lomautusajalta kuukaudessa (brutto)?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2E"/>
                </a:solidFill>
              </a:rPr>
              <a:t>3️⃣  Mitä käytännön toimia Tiinan täytyy tehdä?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2E"/>
                </a:solidFill>
              </a:rPr>
              <a:t>    (Mihin ilmoittautua, keneltä hakea?)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2E"/>
                </a:solidFill>
              </a:rPr>
              <a:t>4️⃣  Miksi PAMin jäsenyys oli Tiinalle kannattavaa?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2E"/>
                </a:solidFill>
              </a:rPr>
              <a:t>⭐ Bonus: Mitä eläkettä Tiinalle on kertynyt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2E"/>
                </a:solidFill>
              </a:rPr>
              <a:t>   näiden 14 kuukauden aikana?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687568"/>
            <a:ext cx="6858000" cy="9144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</a:rPr>
              <a:t>🔗 Apulähteet: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0819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kela.fi/tyottomyys   •   pam.fi/jasenyys   •   jattk.fi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2121408"/>
            <a:ext cx="4572000" cy="448056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19456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💡 Opettajan vinkki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633472"/>
            <a:ext cx="4343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Korostuksena purussa: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Kassan jäsenyys = suuri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rahallinen ero!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(56 % vs 37 €/pv)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Työssäoloehto täyttyy: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14 kk &gt; 12 kk ✓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Vastaus bonustehtävään: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14 kk × 1 900 € = 26 600 €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26 600 × 1,5 % ≈ 399 €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eläkettä kertynyt!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Muistuta: ilmoittaudu TE-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  palveluihin HETI!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E2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💬  TM4 — Suljettu loppukeskustelu (15–20 min) → SCORM Harjoitus 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6858000" cy="530352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207008"/>
            <a:ext cx="6583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Suljettu loppukeskustelu:</a:t>
            </a:r>
          </a:p>
          <a:p>
            <a:pPr/>
            <a:r>
              <a:rPr sz="1100">
                <a:solidFill>
                  <a:srgbClr val="1A1A2E"/>
                </a:solidFill>
              </a:rPr>
              <a:t>Opiskelija arvioi ja argumentoi — ei 'oikeita vastauksia'.</a:t>
            </a:r>
          </a:p>
          <a:p>
            <a:pPr/>
            <a:r>
              <a:rPr sz="1100">
                <a:solidFill>
                  <a:srgbClr val="1A1A2E"/>
                </a:solidFill>
              </a:rPr>
              <a:t>Sallitaan kriittiset näkemykset järjestelmää kohtaan.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764BA2"/>
                </a:solidFill>
              </a:rPr>
              <a:t>Opettaja esittää — opiskelijat argumentoivat:</a:t>
            </a:r>
          </a:p>
          <a:p>
            <a:pPr/>
            <a:r>
              <a:rPr sz="1100">
                <a:solidFill>
                  <a:srgbClr val="1A1A2E"/>
                </a:solidFill>
              </a:rPr>
              <a:t/>
            </a:r>
          </a:p>
          <a:p>
            <a:pPr/>
            <a:r>
              <a:rPr sz="1100">
                <a:solidFill>
                  <a:srgbClr val="1A1A2E"/>
                </a:solidFill>
              </a:rPr>
              <a:t>Kysymys 1:</a:t>
            </a:r>
          </a:p>
          <a:p>
            <a:pPr/>
            <a:r>
              <a:rPr sz="1100">
                <a:solidFill>
                  <a:srgbClr val="1A1A2E"/>
                </a:solidFill>
              </a:rPr>
              <a:t>"Miksi kannattaa liittyä ammattiliittoon</a:t>
            </a:r>
          </a:p>
          <a:p>
            <a:pPr/>
            <a:r>
              <a:rPr sz="1100">
                <a:solidFill>
                  <a:srgbClr val="1A1A2E"/>
                </a:solidFill>
              </a:rPr>
              <a:t> heti ensimmäisessä kesätyössä?"</a:t>
            </a:r>
          </a:p>
          <a:p>
            <a:pPr/>
            <a:r>
              <a:rPr sz="1100">
                <a:solidFill>
                  <a:srgbClr val="1A1A2E"/>
                </a:solidFill>
              </a:rPr>
              <a:t/>
            </a:r>
          </a:p>
          <a:p>
            <a:pPr/>
            <a:r>
              <a:rPr sz="1100">
                <a:solidFill>
                  <a:srgbClr val="1A1A2E"/>
                </a:solidFill>
              </a:rPr>
              <a:t>Kysymys 2:</a:t>
            </a:r>
          </a:p>
          <a:p>
            <a:pPr/>
            <a:r>
              <a:rPr sz="1100">
                <a:solidFill>
                  <a:srgbClr val="1A1A2E"/>
                </a:solidFill>
              </a:rPr>
              <a:t>"Onko oikein, että alle 25-vuotiaat menettävät</a:t>
            </a:r>
          </a:p>
          <a:p>
            <a:pPr/>
            <a:r>
              <a:rPr sz="1100">
                <a:solidFill>
                  <a:srgbClr val="1A1A2E"/>
                </a:solidFill>
              </a:rPr>
              <a:t> etuutensa, jos eivät hae koulutukseen?"</a:t>
            </a:r>
          </a:p>
          <a:p>
            <a:pPr/>
            <a:r>
              <a:rPr sz="1100">
                <a:solidFill>
                  <a:srgbClr val="1A1A2E"/>
                </a:solidFill>
              </a:rPr>
              <a:t/>
            </a:r>
          </a:p>
          <a:p>
            <a:pPr/>
            <a:r>
              <a:rPr sz="1100">
                <a:solidFill>
                  <a:srgbClr val="1A1A2E"/>
                </a:solidFill>
              </a:rPr>
              <a:t>Kysymys 3:</a:t>
            </a:r>
          </a:p>
          <a:p>
            <a:pPr/>
            <a:r>
              <a:rPr sz="1100">
                <a:solidFill>
                  <a:srgbClr val="1A1A2E"/>
                </a:solidFill>
              </a:rPr>
              <a:t>"Kuinka moni on ennen tätä oppituntia ajatellut</a:t>
            </a:r>
          </a:p>
          <a:p>
            <a:pPr/>
            <a:r>
              <a:rPr sz="1100">
                <a:solidFill>
                  <a:srgbClr val="1A1A2E"/>
                </a:solidFill>
              </a:rPr>
              <a:t> omaa eläkettään? Muuttiko tämä tilanne sitä?"</a:t>
            </a:r>
          </a:p>
          <a:p>
            <a:pPr/>
            <a:r>
              <a:rPr sz="700">
                <a:solidFill>
                  <a:srgbClr val="CCCCDD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pPr/>
            <a:r>
              <a:rPr sz="1100">
                <a:solidFill>
                  <a:srgbClr val="1A1A2E"/>
                </a:solidFill>
              </a:rPr>
              <a:t>SCORM Harjoitus 2 heti tämän jälkeen:</a:t>
            </a:r>
          </a:p>
          <a:p>
            <a:pPr/>
            <a:r>
              <a:rPr sz="1100">
                <a:solidFill>
                  <a:srgbClr val="1A1A2E"/>
                </a:solidFill>
              </a:rPr>
              <a:t>Työttömyysturva ja eläke -harjoitus (~25–30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097280"/>
            <a:ext cx="448056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1887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🗣️  LUOKASSA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45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</a:rPr>
              <a:t>SCORM-siirtymä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75688"/>
            <a:ext cx="4251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📌 Avoin pohdinta: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ei oikeita vastauksia!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🔄 Salli kriittiset näke-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  mykset järjestelmästä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🖥️ SCORM-SIIRTYMÄ: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"Nyt tietokoneelle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— avaa Harjoitus 2: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Työttömyysturva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 ja eläke"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Opettaja kiertää.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A2E"/>
                </a:solidFill>
              </a:rPr>
              <a:t>⏱️  SCORM ~25–30 min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764BA2"/>
              </a:gs>
              <a:gs pos="100000">
                <a:srgbClr val="1A1A2E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✅  Osion 1 yhteenveto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051560"/>
          </a:xfrm>
          <a:prstGeom prst="rect">
            <a:avLst/>
          </a:prstGeom>
          <a:solidFill>
            <a:srgbClr val="3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0C0FF"/>
                </a:solidFill>
              </a:rPr>
              <a:t>Kaupan ala muuttuu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FF"/>
                </a:solidFill>
              </a:rPr>
              <a:t>— mutta on yhä Suomen suurin työllistäjä (~267 000). Uusi osaaminen kannattaa hankkia.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274552" cy="1051560"/>
          </a:xfrm>
          <a:prstGeom prst="rect">
            <a:avLst/>
          </a:prstGeom>
          <a:solidFill>
            <a:srgbClr val="3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267712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7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0C0FF"/>
                </a:solidFill>
              </a:rPr>
              <a:t>Urapolkuja on monia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FF"/>
                </a:solidFill>
              </a:rPr>
              <a:t>— kassatyöstä kauppiaaksi tai HR-johtajaksi. Mahdollisuuksia on laajasti.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11274552" cy="1051560"/>
          </a:xfrm>
          <a:prstGeom prst="rect">
            <a:avLst/>
          </a:prstGeom>
          <a:solidFill>
            <a:srgbClr val="3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410712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7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0C0FF"/>
                </a:solidFill>
              </a:rPr>
              <a:t>Järjestöt ja TES suojaavat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40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FF"/>
                </a:solidFill>
              </a:rPr>
              <a:t>— PAM, Kaupan liitto ja TES ovat käytännön työkaluja. Liitty jo ensimmäisestä työsuhteesta!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11274552" cy="1051560"/>
          </a:xfrm>
          <a:prstGeom prst="rect">
            <a:avLst/>
          </a:prstGeom>
          <a:solidFill>
            <a:srgbClr val="3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553712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26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0C0FF"/>
                </a:solidFill>
              </a:rPr>
              <a:t>Turvaverkko on olemassa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83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FF"/>
                </a:solidFill>
              </a:rPr>
              <a:t>— Tunne oikeutesi ennen kuin niitä tarvitset. Eläke kertyy jo kesätöistä.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FFAA"/>
                </a:solidFill>
              </a:rPr>
              <a:t>➡️  Seuraavaksi: Osio 2 — Työn pelisäännöt: oikeudet, velvollisuudet ja sopimukset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🔗  Opettajan linkkipankki — Osio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07008"/>
            <a:ext cx="5669280" cy="8686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252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📊 Kaupan alan tilastot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459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EEA"/>
                </a:solidFill>
              </a:rPr>
              <a:t>Kaupan liitto  |  https://kauppa.fi/palvelut-ja-tietopankki/kaupan-alan-tilastoja/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07008"/>
            <a:ext cx="5669280" cy="8686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252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📄 Kaupan alan TES 2025–2028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EEA"/>
                </a:solidFill>
              </a:rPr>
              <a:t>PAM / Kaupan liitto  |  https://www.pam.fi/tyoehtosopimukset/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12848"/>
            <a:ext cx="5669280" cy="8686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258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🤝 PAM — jäsenyys ja edut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EEA"/>
                </a:solidFill>
              </a:rPr>
              <a:t>PAM  |  https://www.pam.fi/jasenyys/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12848"/>
            <a:ext cx="5669280" cy="8686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258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💰 Työttömyysturva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EEA"/>
                </a:solidFill>
              </a:rPr>
              <a:t>Kela  |  https://www.kela.fi/tyottomyys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18688"/>
            <a:ext cx="5669280" cy="8686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2644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🏦 Kaupan alan työttömyyskassa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6576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EEA"/>
                </a:solidFill>
              </a:rPr>
              <a:t>JATTK  |  https://www.jattk.fi/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18688"/>
            <a:ext cx="5669280" cy="8686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2644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👴 Oma eläkekertymä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576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EEA"/>
                </a:solidFill>
              </a:rPr>
              <a:t>Eläketurvakeskus  |  https://www.tyoelake.fi/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24528"/>
            <a:ext cx="5669280" cy="8686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2702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📈 Eläkejärjestelmä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663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EEA"/>
                </a:solidFill>
              </a:rPr>
              <a:t>ETK  |  https://www.etk.fi/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224528"/>
            <a:ext cx="5669280" cy="8686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2702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💼 Avoimet työpaikat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663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EEA"/>
                </a:solidFill>
              </a:rPr>
              <a:t>mol.fi  |  https://mol.fi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30368"/>
            <a:ext cx="5669280" cy="8686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5276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💼 Avoimet työpaikat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6692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EEA"/>
                </a:solidFill>
              </a:rPr>
              <a:t>Duunitori  |  https://duunitori.fi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230368"/>
            <a:ext cx="5669280" cy="8686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5276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4BA2"/>
                </a:solidFill>
              </a:rPr>
              <a:t>📉 Työmarkkinaennuste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6692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EEA"/>
                </a:solidFill>
              </a:rPr>
              <a:t>TEM  |  https://tem.fi → Julkaisut → Työmarkkinaennuste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